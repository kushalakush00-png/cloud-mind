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Bahnschrift SemiBold" panose="020B0502040204020203" pitchFamily="34" charset="0"/>
      <p:bold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Plus Jakarta Sans"/>
      <p:bold r:id="rId14"/>
    </p:embeddedFont>
    <p:embeddedFont>
      <p:font typeface="Space Grotesk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207073"/>
            <a:ext cx="714375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4207073"/>
            <a:ext cx="71437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876550" y="4483298"/>
            <a:ext cx="9525" cy="381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993552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2488852"/>
            <a:ext cx="10626328" cy="613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FFFFFF"/>
                </a:solidFill>
                <a:latin typeface="Space Grotesk"/>
              </a:rPr>
              <a:t>CloudMind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92673"/>
            <a:ext cx="67627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Deep Learning Telemetry, Unsupervised Anomaly Detection, and Power BI Enterprise Reporting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7275" y="2026890"/>
            <a:ext cx="5679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END-TO-END CLOUD INTELLIGENCE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83298"/>
            <a:ext cx="254793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CORE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64273"/>
            <a:ext cx="2547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E2E8F0"/>
                </a:solidFill>
                <a:latin typeface="Plus Jakarta Sans"/>
              </a:rPr>
              <a:t>Scikit-Learn Isolation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14675" y="4483298"/>
            <a:ext cx="183356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INTERFACE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4675" y="4664273"/>
            <a:ext cx="183356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 dirty="0" err="1">
                <a:solidFill>
                  <a:srgbClr val="E2E8F0"/>
                </a:solidFill>
                <a:latin typeface="Plus Jakarta Sans"/>
              </a:rPr>
              <a:t>Streamlit</a:t>
            </a:r>
            <a:r>
              <a:rPr sz="1200" b="1" i="0" u="none" dirty="0">
                <a:solidFill>
                  <a:srgbClr val="E2E8F0"/>
                </a:solidFill>
                <a:latin typeface="Plus Jakarta Sans"/>
              </a:rPr>
              <a:t> + Power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212" y="5507534"/>
            <a:ext cx="30287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Kushal</a:t>
            </a: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 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Mayank</a:t>
            </a: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 H 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 err="1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Shashank</a:t>
            </a:r>
            <a:r>
              <a:rPr lang="en-IN" b="1" dirty="0" smtClean="0">
                <a:solidFill>
                  <a:schemeClr val="bg1"/>
                </a:solidFill>
                <a:latin typeface="Bahnschrift SemiBold" panose="020B0502040204020203" pitchFamily="34" charset="0"/>
              </a:rPr>
              <a:t> T</a:t>
            </a:r>
            <a:endParaRPr lang="en-IN" b="1" dirty="0">
              <a:solidFill>
                <a:schemeClr val="bg1"/>
              </a:solidFill>
              <a:latin typeface="Bahnschrift SemiBold" panose="020B0502040204020203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51538" y="5573434"/>
            <a:ext cx="28591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Under the guidance of: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 err="1" smtClean="0">
                <a:solidFill>
                  <a:schemeClr val="bg1"/>
                </a:solidFill>
              </a:rPr>
              <a:t>Prof.</a:t>
            </a:r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 err="1" smtClean="0">
                <a:solidFill>
                  <a:schemeClr val="bg1"/>
                </a:solidFill>
              </a:rPr>
              <a:t>Gargi</a:t>
            </a:r>
            <a:r>
              <a:rPr lang="en-IN" dirty="0" smtClean="0">
                <a:solidFill>
                  <a:schemeClr val="bg1"/>
                </a:solidFill>
              </a:rPr>
              <a:t> N</a:t>
            </a:r>
          </a:p>
          <a:p>
            <a:r>
              <a:rPr lang="en-IN" dirty="0" smtClean="0">
                <a:solidFill>
                  <a:schemeClr val="bg1"/>
                </a:solidFill>
              </a:rPr>
              <a:t> </a:t>
            </a:r>
            <a:r>
              <a:rPr lang="en-IN" dirty="0" err="1" smtClean="0">
                <a:solidFill>
                  <a:schemeClr val="bg1"/>
                </a:solidFill>
              </a:rPr>
              <a:t>Prof.</a:t>
            </a:r>
            <a:r>
              <a:rPr lang="en-IN" dirty="0" smtClean="0">
                <a:solidFill>
                  <a:schemeClr val="bg1"/>
                </a:solidFill>
              </a:rPr>
              <a:t>  </a:t>
            </a:r>
            <a:r>
              <a:rPr lang="en-IN" dirty="0" err="1" smtClean="0">
                <a:solidFill>
                  <a:schemeClr val="bg1"/>
                </a:solidFill>
              </a:rPr>
              <a:t>Bhavani</a:t>
            </a:r>
            <a:r>
              <a:rPr lang="en-IN" dirty="0" smtClean="0">
                <a:solidFill>
                  <a:schemeClr val="bg1"/>
                </a:solidFill>
              </a:rPr>
              <a:t>  Soma </a:t>
            </a:r>
            <a:endParaRPr lang="en-I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49810"/>
            <a:ext cx="2400300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7100" y="3249810"/>
            <a:ext cx="2400300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3249810"/>
            <a:ext cx="2400300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82100" y="3249810"/>
            <a:ext cx="2400300" cy="1314450"/>
          </a:xfrm>
          <a:prstGeom prst="roundRect">
            <a:avLst>
              <a:gd name="adj" fmla="val 869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3821310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821310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3821310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End-to-End System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3478410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69748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Data Synthesizer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99276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Simulates multi-VM CPU, RAM &amp; network metrics.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5700" y="3478410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5700" y="369748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Isolation Forest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5700" y="399276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Unsupervised ML detects operational anomalies.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3478410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369748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Streamlit UI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200" y="399276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Interactive control center with live KPIs &amp; alerts.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0700" y="3478410"/>
            <a:ext cx="24288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STAGE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0700" y="3697485"/>
            <a:ext cx="25503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Power BI 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0700" y="3992760"/>
            <a:ext cx="203835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CSV pipeline feeds executive business intelligence.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6883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6883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68835"/>
            <a:ext cx="3505200" cy="1676400"/>
          </a:xfrm>
          <a:prstGeom prst="roundRect">
            <a:avLst>
              <a:gd name="adj" fmla="val 909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STAGE 01: DATA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Synthetic Telemetry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383160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Sinusoidal Baselines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925" y="374511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Simulates cyclical CPU loads across 12 servers using sine wave oscillations and Gaussian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57725" y="3383160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Load Spikes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57725" y="374511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Injects controlled stress spikes on select servers to trigger threshold warnings and anomaly scores.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1525" y="3383160"/>
            <a:ext cx="3775471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Bounded Clipping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91525" y="3745110"/>
            <a:ext cx="2971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Ensures realistic percentage boundaries (0% to 100%) for CPU and RAM utilization metrics.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19291" y="3140273"/>
            <a:ext cx="6063108" cy="1533525"/>
          </a:xfrm>
          <a:prstGeom prst="roundRect">
            <a:avLst>
              <a:gd name="adj" fmla="val 993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3478410"/>
            <a:ext cx="152400" cy="152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3830835"/>
            <a:ext cx="15240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3616" y="4183260"/>
            <a:ext cx="15240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STAGE 02: 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Isolation Forest Anomaly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159323"/>
            <a:ext cx="5660863" cy="6858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5400"/>
              </a:lnSpc>
            </a:pPr>
            <a:r>
              <a:rPr sz="5400" b="1" i="0" u="none">
                <a:solidFill>
                  <a:srgbClr val="2563EB"/>
                </a:solidFill>
                <a:latin typeface="Plus Jakarta Sans"/>
              </a:rPr>
              <a:t>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959423"/>
            <a:ext cx="5660863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Contamination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254698"/>
            <a:ext cx="4623941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64748B"/>
                </a:solidFill>
                <a:latin typeface="Plus Jakarta Sans"/>
              </a:rPr>
              <a:t>Unsupervised algorithm isolates outliers by measuring random partition path lengths.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00316" y="3454598"/>
            <a:ext cx="6091683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Multi-feature Input: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Evaluates CPU &amp; RAM simultaneously.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00316" y="3807023"/>
            <a:ext cx="6091683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No Label Required: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Detects anomalies without historical training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0316" y="4159448"/>
            <a:ext cx="6091683" cy="200025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00" b="1" i="0" u="none">
                <a:solidFill>
                  <a:srgbClr val="334155"/>
                </a:solidFill>
                <a:latin typeface="Plus Jakarta Sans"/>
              </a:rPr>
              <a:t>Binary Flagging:</a:t>
            </a:r>
            <a:r>
              <a:rPr sz="1200" b="0" i="0" u="none">
                <a:solidFill>
                  <a:srgbClr val="334155"/>
                </a:solidFill>
                <a:latin typeface="Plus Jakarta Sans"/>
              </a:rPr>
              <a:t> Outputs +1 (Normal) vs -1 (Anomaly).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STAGE 03: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Streamlit Real-Time Control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4508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Interactive VM Slicer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Sidebar controls allow instant drill-downs into specific server nodes.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4508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Plotly Visualizations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Dynamic dark-mode trend lines plotting live CPU and RAM fluctuations.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5085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Automated Advice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Rule-based recommendation engine for scaling up or rightsizing.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68860"/>
            <a:ext cx="3505200" cy="1276350"/>
          </a:xfrm>
          <a:prstGeom prst="roundRect">
            <a:avLst>
              <a:gd name="adj" fmla="val 8955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STAGE 04: BUSINESS INTELLIGENCE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42950"/>
            <a:ext cx="11582400" cy="36567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 i="0" u="none">
                <a:solidFill>
                  <a:srgbClr val="0F172A"/>
                </a:solidFill>
                <a:latin typeface="Space Grotesk"/>
              </a:rPr>
              <a:t>Enterprise Power BI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4508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CSV Data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Exports structured telemetry and anomaly flags directly from Streamlit.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4508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Executive Dashboards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Aggregated cluster KPIs and donut charts depicting normal vs. anomaly ratios.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45085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Cross-VM Filtering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6893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Interactive slicers enabling deep drill-down analytics for viva reviews.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000500" y="4146202"/>
            <a:ext cx="4191000" cy="523875"/>
          </a:xfrm>
          <a:prstGeom prst="roundRect">
            <a:avLst>
              <a:gd name="adj" fmla="val 50000"/>
            </a:avLst>
          </a:prstGeom>
          <a:solidFill>
            <a:srgbClr val="151E33"/>
          </a:solidFill>
          <a:ln w="9525">
            <a:solidFill>
              <a:srgbClr val="2837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43537" y="2187922"/>
            <a:ext cx="13049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01638" y="2511772"/>
            <a:ext cx="9788723" cy="5485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CloudMind Architecture Standard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6468" y="3250852"/>
            <a:ext cx="7739062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Successfully bridging Python machine learning analytics with enterprise Business Intelligence for intelligent cloud resource management.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69531" y="4308127"/>
            <a:ext cx="445293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E8EEFC"/>
                </a:solidFill>
                <a:latin typeface="Plus Jakarta Sans"/>
              </a:rPr>
              <a:t>Ready for Live Demonstration &amp; Viva Examination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345</Words>
  <Application>Microsoft Office PowerPoint</Application>
  <PresentationFormat>Widescreen</PresentationFormat>
  <Paragraphs>63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Bahnschrift SemiBold</vt:lpstr>
      <vt:lpstr>Calibri</vt:lpstr>
      <vt:lpstr>Plus Jakarta Sans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India</dc:creator>
  <cp:keywords/>
  <dc:description>generated using python-pptx</dc:description>
  <cp:lastModifiedBy>India</cp:lastModifiedBy>
  <cp:revision>3</cp:revision>
  <dcterms:created xsi:type="dcterms:W3CDTF">2013-01-27T09:14:16Z</dcterms:created>
  <dcterms:modified xsi:type="dcterms:W3CDTF">2026-10-11T10:42:12Z</dcterms:modified>
  <cp:category/>
</cp:coreProperties>
</file>