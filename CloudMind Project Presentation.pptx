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Plus Jakarta Sans"/>
      <ns0:bold ns1:id="rIdFont13"/>
      <ns0:regular ns1:id="rIdFont14"/>
    </ns0:embeddedFont>
    <ns0:embeddedFont>
      <ns0:font typeface="Space Grotesk"/>
      <ns0:bold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ba49f51f-fcd8-4e85-a568-1d5942d97c86.fntdata" /><ns0:Relationship Id="rIdFont14" Type="http://schemas.openxmlformats.org/officeDocument/2006/relationships/font" Target="fonts/2510d267-0871-4d55-9d19-fce5c5feca38.fntdata" /><ns0:Relationship Id="rIdFont15" Type="http://schemas.openxmlformats.org/officeDocument/2006/relationships/font" Target="fonts/4f36d8e8-d31d-4073-b275-0f2cf37f9e9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207073"/>
            <a:ext cx="6667500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207073"/>
            <a:ext cx="6667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62275" y="4483298"/>
            <a:ext cx="9525" cy="381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93552"/>
            <a:ext cx="333375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2488852"/>
            <a:ext cx="10001250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Space Grotesk"/>
              </a:rPr>
              <a:t>CloudMind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292673"/>
            <a:ext cx="6191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Deep Learning-Based Telemetry Analytics, Predictive Anomaly Detection, and Power BI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2026890"/>
            <a:ext cx="5500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CLOUD RESOURCE INTELLIGENCE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83298"/>
            <a:ext cx="26550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664273"/>
            <a:ext cx="2655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Python + Streamlit + Power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483298"/>
            <a:ext cx="16906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MODEL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664273"/>
            <a:ext cx="1690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Isolation Forest 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35485"/>
            <a:ext cx="3505200" cy="2019300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35485"/>
            <a:ext cx="3505200" cy="2019300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35485"/>
            <a:ext cx="3505200" cy="2019300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49810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4981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249810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" y="3345060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2975" y="3345060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2962" y="3345060"/>
            <a:ext cx="23812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Executive Summary &amp; Core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821310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Real-time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1832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Unified tracking of CPU, RAM, and network metrics across VM clusters.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821310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Unsupervised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1832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Isolation Forest algorithms detect operational anomalies automatically.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821310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Power BI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1832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Direct CSV exports feed executive reports and interactive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64085"/>
            <a:ext cx="2386012" cy="148590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1862" y="3249810"/>
            <a:ext cx="2386012" cy="1314450"/>
          </a:xfrm>
          <a:prstGeom prst="roundRect">
            <a:avLst>
              <a:gd name="adj" fmla="val 869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34125" y="3249810"/>
            <a:ext cx="2386012" cy="1314450"/>
          </a:xfrm>
          <a:prstGeom prst="roundRect">
            <a:avLst>
              <a:gd name="adj" fmla="val 869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96387" y="3249810"/>
            <a:ext cx="2386012" cy="1314450"/>
          </a:xfrm>
          <a:prstGeom prst="roundRect">
            <a:avLst>
              <a:gd name="adj" fmla="val 869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12" y="3811785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3811785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537" y="3811785"/>
            <a:ext cx="17145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End-to-End System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392685"/>
            <a:ext cx="241101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611760"/>
            <a:ext cx="253156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Data Synthesizer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907035"/>
            <a:ext cx="202406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Generates sinusoidal VM telemetry with noise and load spikes.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0462" y="3478410"/>
            <a:ext cx="241101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0462" y="3697485"/>
            <a:ext cx="253156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ML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0462" y="3992760"/>
            <a:ext cx="202406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Isolation Forest scores outliers in multi-dimensional space.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478410"/>
            <a:ext cx="241101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3697485"/>
            <a:ext cx="253156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Streamlit Center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992760"/>
            <a:ext cx="202406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Interactive UI with live metrics and rule recommendations.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4987" y="3478410"/>
            <a:ext cx="241101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4987" y="3697485"/>
            <a:ext cx="253156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Power BI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4987" y="3992760"/>
            <a:ext cx="202406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Exports processed CSVs for corporate BI visual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19291" y="3292673"/>
            <a:ext cx="6063108" cy="1228725"/>
          </a:xfrm>
          <a:prstGeom prst="roundRect">
            <a:avLst>
              <a:gd name="adj" fmla="val 124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616" y="3630810"/>
            <a:ext cx="15240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616" y="3830835"/>
            <a:ext cx="1524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616" y="4030860"/>
            <a:ext cx="1524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Isolation Forest Anomaly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121223"/>
            <a:ext cx="5660863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2563EB"/>
                </a:solidFill>
                <a:latin typeface="Plus Jakarta Sans"/>
              </a:rPr>
              <a:t>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997523"/>
            <a:ext cx="566086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Target Contamination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292798"/>
            <a:ext cx="4623941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Isolates CPU and RAM behavioral outliers without requiring supervised labels.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0316" y="3606998"/>
            <a:ext cx="6091683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Unsupervised Clustering: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No manual training label requirement.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0316" y="3807023"/>
            <a:ext cx="6091683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Multi-feature Analysis: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Evaluates CPU &amp; RAM concurrently.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0316" y="4007048"/>
            <a:ext cx="6091683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Real-time Scoring: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Generates instant anomaly flags (-1 vs 1).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68860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68860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68860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BUSINESS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Power BI Integration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45085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Executive 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68935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Cluster-wide metrics for high-level infrastructure monitoring.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45085"/>
            <a:ext cx="38754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VM Slicer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68935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Interactive drill-downs into specific server metrics on demand.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45085"/>
            <a:ext cx="3838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Anomaly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68935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Donut chart visuals showing normal vs. anomalous behavior ratios.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71962" y="4146202"/>
            <a:ext cx="3648075" cy="523875"/>
          </a:xfrm>
          <a:prstGeom prst="roundRect">
            <a:avLst>
              <a:gd name="adj" fmla="val 50000"/>
            </a:avLst>
          </a:prstGeom>
          <a:solidFill>
            <a:srgbClr val="151E33"/>
          </a:solidFill>
          <a:ln w="9525">
            <a:solidFill>
              <a:srgbClr val="283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43537" y="2187922"/>
            <a:ext cx="13049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9167" y="2511772"/>
            <a:ext cx="9313664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Space Grotesk"/>
              </a:rPr>
              <a:t>CloudMind Operations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250852"/>
            <a:ext cx="7143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Bridging ML predictive analytics with enterprise Business Intelligence for intelligent cloud 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8859" y="4308127"/>
            <a:ext cx="3774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E8EEFC"/>
                </a:solidFill>
                <a:latin typeface="Plus Jakarta Sans"/>
              </a:rPr>
              <a:t>Ready for Live Demonstration &amp; Viva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